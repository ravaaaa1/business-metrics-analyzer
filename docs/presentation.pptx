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632f5902041c4" /><Relationship Type="http://schemas.openxmlformats.org/officeDocument/2006/relationships/extended-properties" Target="/docProps/app.xml" Id="R2de0c98828574cd4" /><Relationship Type="http://schemas.openxmlformats.org/officeDocument/2006/relationships/officeDocument" Target="/ppt/presentation.xml" Id="Rd23582bb7b5441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bcada77ae64ec4"/>
  </p:sldMasterIdLst>
  <p:notesMasterIdLst>
    <p:notesMasterId xmlns:r="http://schemas.openxmlformats.org/officeDocument/2006/relationships" r:id="R77a7fb94cf544df6"/>
  </p:notesMasterIdLst>
  <p:sldIdLst>
    <p:sldId xmlns:r="http://schemas.openxmlformats.org/officeDocument/2006/relationships" id="256" r:id="Rb5721dab35d14292"/>
    <p:sldId xmlns:r="http://schemas.openxmlformats.org/officeDocument/2006/relationships" id="257" r:id="R83a0ff2e93ef4931"/>
    <p:sldId xmlns:r="http://schemas.openxmlformats.org/officeDocument/2006/relationships" id="258" r:id="R05a720b0bfea4341"/>
    <p:sldId xmlns:r="http://schemas.openxmlformats.org/officeDocument/2006/relationships" id="259" r:id="R4297ef575e2f43b0"/>
    <p:sldId xmlns:r="http://schemas.openxmlformats.org/officeDocument/2006/relationships" id="260" r:id="Rcba94767a18747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c39c115bf44cad" /><Relationship Type="http://schemas.openxmlformats.org/officeDocument/2006/relationships/slideMaster" Target="/ppt/slideMasters/slideMaster1.xml" Id="R71bcada77ae64ec4" /><Relationship Type="http://schemas.openxmlformats.org/officeDocument/2006/relationships/notesMaster" Target="/ppt/notesMasters/notesMaster1.xml" Id="R77a7fb94cf544df6" /><Relationship Type="http://schemas.openxmlformats.org/officeDocument/2006/relationships/presProps" Target="/ppt/presProps.xml" Id="R75526d73024e418d" /><Relationship Type="http://schemas.openxmlformats.org/officeDocument/2006/relationships/tableStyles" Target="/ppt/tableStyles.xml" Id="R6b9a1189feb94abf" /><Relationship Type="http://schemas.openxmlformats.org/officeDocument/2006/relationships/slide" Target="/ppt/slides/slide1.xml" Id="Rb5721dab35d14292" /><Relationship Type="http://schemas.openxmlformats.org/officeDocument/2006/relationships/slide" Target="/ppt/slides/slide2.xml" Id="R83a0ff2e93ef4931" /><Relationship Type="http://schemas.openxmlformats.org/officeDocument/2006/relationships/slide" Target="/ppt/slides/slide3.xml" Id="R05a720b0bfea4341" /><Relationship Type="http://schemas.openxmlformats.org/officeDocument/2006/relationships/slide" Target="/ppt/slides/slide4.xml" Id="R4297ef575e2f43b0" /><Relationship Type="http://schemas.openxmlformats.org/officeDocument/2006/relationships/slide" Target="/ppt/slides/slide5.xml" Id="Rcba94767a187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7cc94a1fa42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396e4ca8d842fe" /><Relationship Type="http://schemas.openxmlformats.org/officeDocument/2006/relationships/notesMaster" Target="/ppt/notesMasters/notesMaster1.xml" Id="R829fa20b12b04e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0617eeb7a941f3" /><Relationship Type="http://schemas.openxmlformats.org/officeDocument/2006/relationships/notesMaster" Target="/ppt/notesMasters/notesMaster1.xml" Id="Rb5bcd6242b5f4e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984687280740dd" /><Relationship Type="http://schemas.openxmlformats.org/officeDocument/2006/relationships/notesMaster" Target="/ppt/notesMasters/notesMaster1.xml" Id="R8f7843defd29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169e19dd054a8f" /><Relationship Type="http://schemas.openxmlformats.org/officeDocument/2006/relationships/notesMaster" Target="/ppt/notesMasters/notesMaster1.xml" Id="Rf27f887f45f641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c0a1fbd3fa47b2" /><Relationship Type="http://schemas.openxmlformats.org/officeDocument/2006/relationships/notesMaster" Target="/ppt/notesMasters/notesMaster1.xml" Id="R51542f32cc0f43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кейс ООО «Ритейл-Аналитика». Роман — аналитик и секретарь. Никита — заказчик и пользователь. Предлагаемые ответы интервью являются учебной моделью.</a:t>
            </a:r>
          </a:p>
          <a:p xmlns:a="http://schemas.openxmlformats.org/drawingml/2006/main">
            <a:r>
              <a:t>Источник: ПЗ_02__ПиРБОПО.pdf, разделы 6–10. Учебные уточнения: docs/team_and_interview.md.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Учебные цели требуют согласования. Контрольная CSV-выборка: выручка 30 000 руб., средний чек 10 000 руб., конверсия закрытых сделок 75%, рентабельность продаж 30%. AS-IS — ручное объединение файлов. TO-BE — проверяемый импорт и автоматический расчёт. Нагрузка NFR: 100 000 сделок и 10 одновременных пользователей на 2 vCPU/4 ГБ RAM.</a:t>
            </a:r>
          </a:p>
          <a:p xmlns:a="http://schemas.openxmlformats.org/drawingml/2006/main">
            <a:r>
              <a:t>Источник: ПЗ_02__ПиРБОПО.pdf, разделы 6–10. Учебные уточнения: docs/team_and_interview.md.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INVEST есть для каждой истории. Явно заданы зависимости, границы и отдельная ценность. Для пустого периода: выручка 0, отношения «Нет данных». Менеджер не получает чужие отделы. Схема данных и эталон находятся в docs/business_requirements.md и docs/sample_sales.csv.</a:t>
            </a:r>
          </a:p>
          <a:p xmlns:a="http://schemas.openxmlformats.org/drawingml/2006/main">
            <a:r>
              <a:t>Источник: ПЗ_02__ПиРБОПО.pdf, разделы 6–10. Учебные уточнения: docs/team_and_interview.md.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Диаграмма: docs/use_case_diagram.puml. Авторизация является предусловием остальных UC. Ошибочный CSV отклоняется целиком без изменения активного набора. Для отчёта заданы пустой период, неверные даты и отказ доступа. UC-10 обозначает будущий мобильный просмотр и не входит в релиз.</a:t>
            </a:r>
          </a:p>
          <a:p xmlns:a="http://schemas.openxmlformats.org/drawingml/2006/main">
            <a:r>
              <a:t>Источник: ПЗ_02__ПиРБОПО.pdf, разделы 6–10. Учебные уточнения: docs/team_and_interview.md.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Мобильная адаптация: Won’t have, 8 SP, вне релиза. Полный backlog 39 SP. Story Points не равны часам. Ёмкость двух участников пока неизвестна, план предварительный. Роман выступает по слайдам 1–3, Никита по 4–5. Все функции планируемые, разработка и приёмочные испытания ещё не выполнены.</a:t>
            </a:r>
          </a:p>
          <a:p xmlns:a="http://schemas.openxmlformats.org/drawingml/2006/main">
            <a:r>
              <a:t>Источник: ПЗ_02__ПиРБОПО.pdf, разделы 6–10. Учебные уточнения: docs/team_and_interview.md.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3f5efaee446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e195ea75b48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455d46dce48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2b0654a9a41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b0435d59e4e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8ec2f0f044c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8114E3-1F5D-4EC2-AFA6-87E90D178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F76124-6D05-49C5-B85E-54BB158C70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DE1ED1-00A9-42A3-9194-4AB7B3BD8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CDD8CA-8DEC-45C3-ABB2-15F02AFF3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614DFF-FFF2-4648-ADC5-5B5E2DD17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BDEC66-CA00-4153-9330-D419205EB8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B67F06-3E33-41D6-A31C-8A2258892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CAF470-A484-43D4-AA9E-038383937F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50264F-68EF-4463-BC4A-35D97F857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321D0D-3A1A-4C8F-9553-655061ACF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5ace29060e4693" /><Relationship Type="http://schemas.openxmlformats.org/officeDocument/2006/relationships/slideLayout" Target="/ppt/slideLayouts/slideLayout1.xml" Id="R09986fc67c8e4dd3" /><Relationship Type="http://schemas.openxmlformats.org/officeDocument/2006/relationships/slideLayout" Target="/ppt/slideLayouts/slideLayout2.xml" Id="Re694675cdf754490" /><Relationship Type="http://schemas.openxmlformats.org/officeDocument/2006/relationships/slideLayout" Target="/ppt/slideLayouts/slideLayout3.xml" Id="R5c4612cccb734f56" /><Relationship Type="http://schemas.openxmlformats.org/officeDocument/2006/relationships/slideLayout" Target="/ppt/slideLayouts/slideLayout4.xml" Id="R179f7ddf40bc4789" /><Relationship Type="http://schemas.openxmlformats.org/officeDocument/2006/relationships/slideLayout" Target="/ppt/slideLayouts/slideLayout5.xml" Id="Re82af00dca1b4843" /><Relationship Type="http://schemas.openxmlformats.org/officeDocument/2006/relationships/slideLayout" Target="/ppt/slideLayouts/slideLayout6.xml" Id="R6dd2e35d7825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986fc67c8e4dd3"/>
    <p:sldLayoutId xmlns:r="http://schemas.openxmlformats.org/officeDocument/2006/relationships" id="2147483650" r:id="Re694675cdf754490"/>
    <p:sldLayoutId xmlns:r="http://schemas.openxmlformats.org/officeDocument/2006/relationships" id="2147483651" r:id="R5c4612cccb734f56"/>
    <p:sldLayoutId xmlns:r="http://schemas.openxmlformats.org/officeDocument/2006/relationships" id="2147483652" r:id="R179f7ddf40bc4789"/>
    <p:sldLayoutId xmlns:r="http://schemas.openxmlformats.org/officeDocument/2006/relationships" id="2147483653" r:id="Re82af00dca1b4843"/>
    <p:sldLayoutId xmlns:r="http://schemas.openxmlformats.org/officeDocument/2006/relationships" id="2147483654" r:id="R6dd2e35d7825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1bce9069c433a" /><Relationship Type="http://schemas.openxmlformats.org/officeDocument/2006/relationships/notesSlide" Target="/ppt/notesSlides/notesSlide1.xml" Id="R7005b25aa38a4c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a5b53b16b447b" /><Relationship Type="http://schemas.openxmlformats.org/officeDocument/2006/relationships/notesSlide" Target="/ppt/notesSlides/notesSlide2.xml" Id="R143239016dc746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2f9a78c8544c2" /><Relationship Type="http://schemas.openxmlformats.org/officeDocument/2006/relationships/notesSlide" Target="/ppt/notesSlides/notesSlide3.xml" Id="R1920fd8df12347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60828a13e48cc" /><Relationship Type="http://schemas.openxmlformats.org/officeDocument/2006/relationships/notesSlide" Target="/ppt/notesSlides/notesSlide4.xml" Id="Rca6f16c1d34342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47a011de448f7" /><Relationship Type="http://schemas.openxmlformats.org/officeDocument/2006/relationships/notesSlide" Target="/ppt/notesSlides/notesSlide5.xml" Id="Rcd35150016104c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3E1F9-D06F-4CA4-B8CB-EBEE328C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</a:defRPr>
            </a:defPPr>
            <a:lvl1pPr>
              <a:defRPr sz="4650" b="1">
                <a:solidFill>
                  <a:srgbClr val="FFFFFF"/>
                </a:solidFill>
              </a:defRPr>
            </a:lvl1pPr>
            <a:lvl2pPr>
              <a:defRPr sz="4650" b="1">
                <a:solidFill>
                  <a:srgbClr val="FFFFFF"/>
                </a:solidFill>
              </a:defRPr>
            </a:lvl2pPr>
            <a:lvl3pPr>
              <a:defRPr sz="4650" b="1">
                <a:solidFill>
                  <a:srgbClr val="FFFFFF"/>
                </a:solidFill>
              </a:defRPr>
            </a:lvl3pPr>
            <a:lvl4pPr>
              <a:defRPr sz="4650" b="1">
                <a:solidFill>
                  <a:srgbClr val="FFFFFF"/>
                </a:solidFill>
              </a:defRPr>
            </a:lvl4pPr>
            <a:lvl5pPr>
              <a:defRPr sz="4650" b="1">
                <a:solidFill>
                  <a:srgbClr val="FFFFFF"/>
                </a:solidFill>
              </a:defRPr>
            </a:lvl5pPr>
            <a:lvl6pPr>
              <a:defRPr sz="4650" b="1">
                <a:solidFill>
                  <a:srgbClr val="FFFFFF"/>
                </a:solidFill>
              </a:defRPr>
            </a:lvl6pPr>
            <a:lvl7pPr>
              <a:defRPr sz="4650" b="1">
                <a:solidFill>
                  <a:srgbClr val="FFFFFF"/>
                </a:solidFill>
              </a:defRPr>
            </a:lvl7pPr>
            <a:lvl8pPr>
              <a:defRPr sz="4650" b="1">
                <a:solidFill>
                  <a:srgbClr val="FFFFFF"/>
                </a:solidFill>
              </a:defRPr>
            </a:lvl8pPr>
            <a:lvl9pPr>
              <a:defRPr sz="4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Business Metrics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Analyzer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BFC04-8BEC-4FA9-8ED1-43201251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ED6CB"/>
                </a:solidFill>
              </a:defRPr>
            </a:defPPr>
            <a:lvl1pPr>
              <a:defRPr sz="2175" b="1">
                <a:solidFill>
                  <a:srgbClr val="8ED6CB"/>
                </a:solidFill>
              </a:defRPr>
            </a:lvl1pPr>
            <a:lvl2pPr>
              <a:defRPr sz="2175" b="1">
                <a:solidFill>
                  <a:srgbClr val="8ED6CB"/>
                </a:solidFill>
              </a:defRPr>
            </a:lvl2pPr>
            <a:lvl3pPr>
              <a:defRPr sz="2175" b="1">
                <a:solidFill>
                  <a:srgbClr val="8ED6CB"/>
                </a:solidFill>
              </a:defRPr>
            </a:lvl3pPr>
            <a:lvl4pPr>
              <a:defRPr sz="2175" b="1">
                <a:solidFill>
                  <a:srgbClr val="8ED6CB"/>
                </a:solidFill>
              </a:defRPr>
            </a:lvl4pPr>
            <a:lvl5pPr>
              <a:defRPr sz="2175" b="1">
                <a:solidFill>
                  <a:srgbClr val="8ED6CB"/>
                </a:solidFill>
              </a:defRPr>
            </a:lvl5pPr>
            <a:lvl6pPr>
              <a:defRPr sz="2175" b="1">
                <a:solidFill>
                  <a:srgbClr val="8ED6CB"/>
                </a:solidFill>
              </a:defRPr>
            </a:lvl6pPr>
            <a:lvl7pPr>
              <a:defRPr sz="2175" b="1">
                <a:solidFill>
                  <a:srgbClr val="8ED6CB"/>
                </a:solidFill>
              </a:defRPr>
            </a:lvl7pPr>
            <a:lvl8pPr>
              <a:defRPr sz="2175" b="1">
                <a:solidFill>
                  <a:srgbClr val="8ED6CB"/>
                </a:solidFill>
              </a:defRPr>
            </a:lvl8pPr>
            <a:lvl9pPr>
              <a:defRPr sz="2175" b="1">
                <a:solidFill>
                  <a:srgbClr val="8ED6CB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ED6CB"/>
                </a:solidFill>
              </a:defRPr>
            </a:pPr>
            <a:r>
              <a:rPr sz="2175" b="1">
                <a:solidFill>
                  <a:srgbClr val="8ED6CB"/>
                </a:solidFill>
              </a:rPr>
              <a:t>ПЗ № 2. Анализ требований и User Stories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65DB7-D45E-406F-9964-C8A17C1B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Ровинский Роман Олегович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Корякин Никита Иванович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Группа Б1123-38.03.05ба(1)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472BB-FC1A-4EEA-A4B3-F92F06F1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ED6CB"/>
                </a:solidFill>
              </a:defRPr>
            </a:defPPr>
            <a:lvl1pPr>
              <a:defRPr sz="1350" b="0">
                <a:solidFill>
                  <a:srgbClr val="8ED6CB"/>
                </a:solidFill>
              </a:defRPr>
            </a:lvl1pPr>
            <a:lvl2pPr>
              <a:defRPr sz="1350" b="0">
                <a:solidFill>
                  <a:srgbClr val="8ED6CB"/>
                </a:solidFill>
              </a:defRPr>
            </a:lvl2pPr>
            <a:lvl3pPr>
              <a:defRPr sz="1350" b="0">
                <a:solidFill>
                  <a:srgbClr val="8ED6CB"/>
                </a:solidFill>
              </a:defRPr>
            </a:lvl3pPr>
            <a:lvl4pPr>
              <a:defRPr sz="1350" b="0">
                <a:solidFill>
                  <a:srgbClr val="8ED6CB"/>
                </a:solidFill>
              </a:defRPr>
            </a:lvl4pPr>
            <a:lvl5pPr>
              <a:defRPr sz="1350" b="0">
                <a:solidFill>
                  <a:srgbClr val="8ED6CB"/>
                </a:solidFill>
              </a:defRPr>
            </a:lvl5pPr>
            <a:lvl6pPr>
              <a:defRPr sz="1350" b="0">
                <a:solidFill>
                  <a:srgbClr val="8ED6CB"/>
                </a:solidFill>
              </a:defRPr>
            </a:lvl6pPr>
            <a:lvl7pPr>
              <a:defRPr sz="1350" b="0">
                <a:solidFill>
                  <a:srgbClr val="8ED6CB"/>
                </a:solidFill>
              </a:defRPr>
            </a:lvl7pPr>
            <a:lvl8pPr>
              <a:defRPr sz="1350" b="0">
                <a:solidFill>
                  <a:srgbClr val="8ED6CB"/>
                </a:solidFill>
              </a:defRPr>
            </a:lvl8pPr>
            <a:lvl9pPr>
              <a:defRPr sz="1350" b="0">
                <a:solidFill>
                  <a:srgbClr val="8ED6C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ED6CB"/>
                </a:solidFill>
              </a:defRPr>
            </a:pPr>
            <a:r>
              <a:rPr sz="1350" b="0">
                <a:solidFill>
                  <a:srgbClr val="8ED6C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963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12E4D-70A7-45BB-BCE0-73957994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C3D"/>
                </a:solidFill>
              </a:defRPr>
            </a:defPPr>
            <a:lvl1pPr>
              <a:defRPr sz="3450" b="1">
                <a:solidFill>
                  <a:srgbClr val="102C3D"/>
                </a:solidFill>
              </a:defRPr>
            </a:lvl1pPr>
            <a:lvl2pPr>
              <a:defRPr sz="3450" b="1">
                <a:solidFill>
                  <a:srgbClr val="102C3D"/>
                </a:solidFill>
              </a:defRPr>
            </a:lvl2pPr>
            <a:lvl3pPr>
              <a:defRPr sz="3450" b="1">
                <a:solidFill>
                  <a:srgbClr val="102C3D"/>
                </a:solidFill>
              </a:defRPr>
            </a:lvl3pPr>
            <a:lvl4pPr>
              <a:defRPr sz="3450" b="1">
                <a:solidFill>
                  <a:srgbClr val="102C3D"/>
                </a:solidFill>
              </a:defRPr>
            </a:lvl4pPr>
            <a:lvl5pPr>
              <a:defRPr sz="3450" b="1">
                <a:solidFill>
                  <a:srgbClr val="102C3D"/>
                </a:solidFill>
              </a:defRPr>
            </a:lvl5pPr>
            <a:lvl6pPr>
              <a:defRPr sz="3450" b="1">
                <a:solidFill>
                  <a:srgbClr val="102C3D"/>
                </a:solidFill>
              </a:defRPr>
            </a:lvl6pPr>
            <a:lvl7pPr>
              <a:defRPr sz="3450" b="1">
                <a:solidFill>
                  <a:srgbClr val="102C3D"/>
                </a:solidFill>
              </a:defRPr>
            </a:lvl7pPr>
            <a:lvl8pPr>
              <a:defRPr sz="3450" b="1">
                <a:solidFill>
                  <a:srgbClr val="102C3D"/>
                </a:solidFill>
              </a:defRPr>
            </a:lvl8pPr>
            <a:lvl9pPr>
              <a:defRPr sz="3450" b="1">
                <a:solidFill>
                  <a:srgbClr val="102C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C3D"/>
                </a:solidFill>
              </a:defRPr>
            </a:pPr>
            <a:r>
              <a:rPr sz="3450" b="1">
                <a:solidFill>
                  <a:srgbClr val="102C3D"/>
                </a:solidFill>
              </a:rPr>
              <a:t>Требования и четыре KPI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B34C1-49E2-4775-B957-A6A1A0AA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7D75"/>
                </a:solidFill>
              </a:defRPr>
            </a:defPPr>
            <a:lvl1pPr>
              <a:defRPr sz="2175" b="1">
                <a:solidFill>
                  <a:srgbClr val="287D75"/>
                </a:solidFill>
              </a:defRPr>
            </a:lvl1pPr>
            <a:lvl2pPr>
              <a:defRPr sz="2175" b="1">
                <a:solidFill>
                  <a:srgbClr val="287D75"/>
                </a:solidFill>
              </a:defRPr>
            </a:lvl2pPr>
            <a:lvl3pPr>
              <a:defRPr sz="2175" b="1">
                <a:solidFill>
                  <a:srgbClr val="287D75"/>
                </a:solidFill>
              </a:defRPr>
            </a:lvl3pPr>
            <a:lvl4pPr>
              <a:defRPr sz="2175" b="1">
                <a:solidFill>
                  <a:srgbClr val="287D75"/>
                </a:solidFill>
              </a:defRPr>
            </a:lvl4pPr>
            <a:lvl5pPr>
              <a:defRPr sz="2175" b="1">
                <a:solidFill>
                  <a:srgbClr val="287D75"/>
                </a:solidFill>
              </a:defRPr>
            </a:lvl5pPr>
            <a:lvl6pPr>
              <a:defRPr sz="2175" b="1">
                <a:solidFill>
                  <a:srgbClr val="287D75"/>
                </a:solidFill>
              </a:defRPr>
            </a:lvl6pPr>
            <a:lvl7pPr>
              <a:defRPr sz="2175" b="1">
                <a:solidFill>
                  <a:srgbClr val="287D75"/>
                </a:solidFill>
              </a:defRPr>
            </a:lvl7pPr>
            <a:lvl8pPr>
              <a:defRPr sz="2175" b="1">
                <a:solidFill>
                  <a:srgbClr val="287D75"/>
                </a:solidFill>
              </a:defRPr>
            </a:lvl8pPr>
            <a:lvl9pPr>
              <a:defRPr sz="2175" b="1">
                <a:solidFill>
                  <a:srgbClr val="287D7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7D75"/>
                </a:solidFill>
              </a:defRPr>
            </a:pPr>
            <a:r>
              <a:rPr sz="2175" b="1">
                <a:solidFill>
                  <a:srgbClr val="287D75"/>
                </a:solidFill>
              </a:rPr>
              <a:t>Ручные Excel-отчёты занимают 2–3 дня по кейсу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FC71C-CB3B-4DEB-97A1-6E46A473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746"/>
                </a:solidFill>
              </a:defRPr>
            </a:defPPr>
            <a:lvl1pPr>
              <a:defRPr sz="2175" b="0">
                <a:solidFill>
                  <a:srgbClr val="203746"/>
                </a:solidFill>
              </a:defRPr>
            </a:lvl1pPr>
            <a:lvl2pPr>
              <a:defRPr sz="2175" b="0">
                <a:solidFill>
                  <a:srgbClr val="203746"/>
                </a:solidFill>
              </a:defRPr>
            </a:lvl2pPr>
            <a:lvl3pPr>
              <a:defRPr sz="2175" b="0">
                <a:solidFill>
                  <a:srgbClr val="203746"/>
                </a:solidFill>
              </a:defRPr>
            </a:lvl3pPr>
            <a:lvl4pPr>
              <a:defRPr sz="2175" b="0">
                <a:solidFill>
                  <a:srgbClr val="203746"/>
                </a:solidFill>
              </a:defRPr>
            </a:lvl4pPr>
            <a:lvl5pPr>
              <a:defRPr sz="2175" b="0">
                <a:solidFill>
                  <a:srgbClr val="203746"/>
                </a:solidFill>
              </a:defRPr>
            </a:lvl5pPr>
            <a:lvl6pPr>
              <a:defRPr sz="2175" b="0">
                <a:solidFill>
                  <a:srgbClr val="203746"/>
                </a:solidFill>
              </a:defRPr>
            </a:lvl6pPr>
            <a:lvl7pPr>
              <a:defRPr sz="2175" b="0">
                <a:solidFill>
                  <a:srgbClr val="203746"/>
                </a:solidFill>
              </a:defRPr>
            </a:lvl7pPr>
            <a:lvl8pPr>
              <a:defRPr sz="2175" b="0">
                <a:solidFill>
                  <a:srgbClr val="203746"/>
                </a:solidFill>
              </a:defRPr>
            </a:lvl8pPr>
            <a:lvl9pPr>
              <a:defRPr sz="2175" b="0">
                <a:solidFill>
                  <a:srgbClr val="20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18 вопросов интервью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4 бизнес-требования, 11 функциональных, 5 нефункциональных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Цель: типовой просмотр после подготовки CSV до 10 минут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Дашборд: p95 до 3 секунд при заданной нагрузке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1416F-2513-4751-9EA5-81588D56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87D75"/>
                </a:solidFill>
              </a:defRPr>
            </a:defPPr>
            <a:lvl1pPr>
              <a:defRPr sz="1350" b="0">
                <a:solidFill>
                  <a:srgbClr val="287D75"/>
                </a:solidFill>
              </a:defRPr>
            </a:lvl1pPr>
            <a:lvl2pPr>
              <a:defRPr sz="1350" b="0">
                <a:solidFill>
                  <a:srgbClr val="287D75"/>
                </a:solidFill>
              </a:defRPr>
            </a:lvl2pPr>
            <a:lvl3pPr>
              <a:defRPr sz="1350" b="0">
                <a:solidFill>
                  <a:srgbClr val="287D75"/>
                </a:solidFill>
              </a:defRPr>
            </a:lvl3pPr>
            <a:lvl4pPr>
              <a:defRPr sz="1350" b="0">
                <a:solidFill>
                  <a:srgbClr val="287D75"/>
                </a:solidFill>
              </a:defRPr>
            </a:lvl4pPr>
            <a:lvl5pPr>
              <a:defRPr sz="1350" b="0">
                <a:solidFill>
                  <a:srgbClr val="287D75"/>
                </a:solidFill>
              </a:defRPr>
            </a:lvl5pPr>
            <a:lvl6pPr>
              <a:defRPr sz="1350" b="0">
                <a:solidFill>
                  <a:srgbClr val="287D75"/>
                </a:solidFill>
              </a:defRPr>
            </a:lvl6pPr>
            <a:lvl7pPr>
              <a:defRPr sz="1350" b="0">
                <a:solidFill>
                  <a:srgbClr val="287D75"/>
                </a:solidFill>
              </a:defRPr>
            </a:lvl7pPr>
            <a:lvl8pPr>
              <a:defRPr sz="1350" b="0">
                <a:solidFill>
                  <a:srgbClr val="287D75"/>
                </a:solidFill>
              </a:defRPr>
            </a:lvl8pPr>
            <a:lvl9pPr>
              <a:defRPr sz="1350" b="0">
                <a:solidFill>
                  <a:srgbClr val="287D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87D75"/>
                </a:solidFill>
              </a:defRPr>
            </a:pPr>
            <a:r>
              <a:rPr sz="1350" b="0">
                <a:solidFill>
                  <a:srgbClr val="287D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6077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BAB1A-31C1-4CB8-93BF-4E9B23C9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C3D"/>
                </a:solidFill>
              </a:defRPr>
            </a:defPPr>
            <a:lvl1pPr>
              <a:defRPr sz="3450" b="1">
                <a:solidFill>
                  <a:srgbClr val="102C3D"/>
                </a:solidFill>
              </a:defRPr>
            </a:lvl1pPr>
            <a:lvl2pPr>
              <a:defRPr sz="3450" b="1">
                <a:solidFill>
                  <a:srgbClr val="102C3D"/>
                </a:solidFill>
              </a:defRPr>
            </a:lvl2pPr>
            <a:lvl3pPr>
              <a:defRPr sz="3450" b="1">
                <a:solidFill>
                  <a:srgbClr val="102C3D"/>
                </a:solidFill>
              </a:defRPr>
            </a:lvl3pPr>
            <a:lvl4pPr>
              <a:defRPr sz="3450" b="1">
                <a:solidFill>
                  <a:srgbClr val="102C3D"/>
                </a:solidFill>
              </a:defRPr>
            </a:lvl4pPr>
            <a:lvl5pPr>
              <a:defRPr sz="3450" b="1">
                <a:solidFill>
                  <a:srgbClr val="102C3D"/>
                </a:solidFill>
              </a:defRPr>
            </a:lvl5pPr>
            <a:lvl6pPr>
              <a:defRPr sz="3450" b="1">
                <a:solidFill>
                  <a:srgbClr val="102C3D"/>
                </a:solidFill>
              </a:defRPr>
            </a:lvl6pPr>
            <a:lvl7pPr>
              <a:defRPr sz="3450" b="1">
                <a:solidFill>
                  <a:srgbClr val="102C3D"/>
                </a:solidFill>
              </a:defRPr>
            </a:lvl7pPr>
            <a:lvl8pPr>
              <a:defRPr sz="3450" b="1">
                <a:solidFill>
                  <a:srgbClr val="102C3D"/>
                </a:solidFill>
              </a:defRPr>
            </a:lvl8pPr>
            <a:lvl9pPr>
              <a:defRPr sz="3450" b="1">
                <a:solidFill>
                  <a:srgbClr val="102C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C3D"/>
                </a:solidFill>
              </a:defRPr>
            </a:pPr>
            <a:r>
              <a:rPr sz="3450" b="1">
                <a:solidFill>
                  <a:srgbClr val="102C3D"/>
                </a:solidFill>
              </a:rPr>
              <a:t>User Stories и приёмка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885D4-B374-4393-B4D2-421B1BC8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7D75"/>
                </a:solidFill>
              </a:defRPr>
            </a:defPPr>
            <a:lvl1pPr>
              <a:defRPr sz="2175" b="1">
                <a:solidFill>
                  <a:srgbClr val="287D75"/>
                </a:solidFill>
              </a:defRPr>
            </a:lvl1pPr>
            <a:lvl2pPr>
              <a:defRPr sz="2175" b="1">
                <a:solidFill>
                  <a:srgbClr val="287D75"/>
                </a:solidFill>
              </a:defRPr>
            </a:lvl2pPr>
            <a:lvl3pPr>
              <a:defRPr sz="2175" b="1">
                <a:solidFill>
                  <a:srgbClr val="287D75"/>
                </a:solidFill>
              </a:defRPr>
            </a:lvl3pPr>
            <a:lvl4pPr>
              <a:defRPr sz="2175" b="1">
                <a:solidFill>
                  <a:srgbClr val="287D75"/>
                </a:solidFill>
              </a:defRPr>
            </a:lvl4pPr>
            <a:lvl5pPr>
              <a:defRPr sz="2175" b="1">
                <a:solidFill>
                  <a:srgbClr val="287D75"/>
                </a:solidFill>
              </a:defRPr>
            </a:lvl5pPr>
            <a:lvl6pPr>
              <a:defRPr sz="2175" b="1">
                <a:solidFill>
                  <a:srgbClr val="287D75"/>
                </a:solidFill>
              </a:defRPr>
            </a:lvl6pPr>
            <a:lvl7pPr>
              <a:defRPr sz="2175" b="1">
                <a:solidFill>
                  <a:srgbClr val="287D75"/>
                </a:solidFill>
              </a:defRPr>
            </a:lvl7pPr>
            <a:lvl8pPr>
              <a:defRPr sz="2175" b="1">
                <a:solidFill>
                  <a:srgbClr val="287D75"/>
                </a:solidFill>
              </a:defRPr>
            </a:lvl8pPr>
            <a:lvl9pPr>
              <a:defRPr sz="2175" b="1">
                <a:solidFill>
                  <a:srgbClr val="287D7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7D75"/>
                </a:solidFill>
              </a:defRPr>
            </a:pPr>
            <a:r>
              <a:rPr sz="2175" b="1">
                <a:solidFill>
                  <a:srgbClr val="287D75"/>
                </a:solidFill>
              </a:rPr>
              <a:t>10 историй и 23 критерия Given–When–Then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86C5F-9CDF-4ADC-8F33-E4606B97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746"/>
                </a:solidFill>
              </a:defRPr>
            </a:defPPr>
            <a:lvl1pPr>
              <a:defRPr sz="2175" b="0">
                <a:solidFill>
                  <a:srgbClr val="203746"/>
                </a:solidFill>
              </a:defRPr>
            </a:lvl1pPr>
            <a:lvl2pPr>
              <a:defRPr sz="2175" b="0">
                <a:solidFill>
                  <a:srgbClr val="203746"/>
                </a:solidFill>
              </a:defRPr>
            </a:lvl2pPr>
            <a:lvl3pPr>
              <a:defRPr sz="2175" b="0">
                <a:solidFill>
                  <a:srgbClr val="203746"/>
                </a:solidFill>
              </a:defRPr>
            </a:lvl3pPr>
            <a:lvl4pPr>
              <a:defRPr sz="2175" b="0">
                <a:solidFill>
                  <a:srgbClr val="203746"/>
                </a:solidFill>
              </a:defRPr>
            </a:lvl4pPr>
            <a:lvl5pPr>
              <a:defRPr sz="2175" b="0">
                <a:solidFill>
                  <a:srgbClr val="203746"/>
                </a:solidFill>
              </a:defRPr>
            </a:lvl5pPr>
            <a:lvl6pPr>
              <a:defRPr sz="2175" b="0">
                <a:solidFill>
                  <a:srgbClr val="203746"/>
                </a:solidFill>
              </a:defRPr>
            </a:lvl6pPr>
            <a:lvl7pPr>
              <a:defRPr sz="2175" b="0">
                <a:solidFill>
                  <a:srgbClr val="203746"/>
                </a:solidFill>
              </a:defRPr>
            </a:lvl7pPr>
            <a:lvl8pPr>
              <a:defRPr sz="2175" b="0">
                <a:solidFill>
                  <a:srgbClr val="203746"/>
                </a:solidFill>
              </a:defRPr>
            </a:lvl8pPr>
            <a:lvl9pPr>
              <a:defRPr sz="2175" b="0">
                <a:solidFill>
                  <a:srgbClr val="20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Как коммерческий директор, я хочу видеть KPI,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чтобы оперативно оценивать продажи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Given: контрольный CSV загружен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When: директор открывает октябрь 2026 года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Then: 30 000 руб. / 10 000 руб. / 75% / 30%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CFA4F-B877-42B6-A27D-F2DB2DF3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87D75"/>
                </a:solidFill>
              </a:defRPr>
            </a:defPPr>
            <a:lvl1pPr>
              <a:defRPr sz="1350" b="0">
                <a:solidFill>
                  <a:srgbClr val="287D75"/>
                </a:solidFill>
              </a:defRPr>
            </a:lvl1pPr>
            <a:lvl2pPr>
              <a:defRPr sz="1350" b="0">
                <a:solidFill>
                  <a:srgbClr val="287D75"/>
                </a:solidFill>
              </a:defRPr>
            </a:lvl2pPr>
            <a:lvl3pPr>
              <a:defRPr sz="1350" b="0">
                <a:solidFill>
                  <a:srgbClr val="287D75"/>
                </a:solidFill>
              </a:defRPr>
            </a:lvl3pPr>
            <a:lvl4pPr>
              <a:defRPr sz="1350" b="0">
                <a:solidFill>
                  <a:srgbClr val="287D75"/>
                </a:solidFill>
              </a:defRPr>
            </a:lvl4pPr>
            <a:lvl5pPr>
              <a:defRPr sz="1350" b="0">
                <a:solidFill>
                  <a:srgbClr val="287D75"/>
                </a:solidFill>
              </a:defRPr>
            </a:lvl5pPr>
            <a:lvl6pPr>
              <a:defRPr sz="1350" b="0">
                <a:solidFill>
                  <a:srgbClr val="287D75"/>
                </a:solidFill>
              </a:defRPr>
            </a:lvl6pPr>
            <a:lvl7pPr>
              <a:defRPr sz="1350" b="0">
                <a:solidFill>
                  <a:srgbClr val="287D75"/>
                </a:solidFill>
              </a:defRPr>
            </a:lvl7pPr>
            <a:lvl8pPr>
              <a:defRPr sz="1350" b="0">
                <a:solidFill>
                  <a:srgbClr val="287D75"/>
                </a:solidFill>
              </a:defRPr>
            </a:lvl8pPr>
            <a:lvl9pPr>
              <a:defRPr sz="1350" b="0">
                <a:solidFill>
                  <a:srgbClr val="287D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87D75"/>
                </a:solidFill>
              </a:defRPr>
            </a:pPr>
            <a:r>
              <a:rPr sz="1350" b="0">
                <a:solidFill>
                  <a:srgbClr val="287D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64052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A58E8-5AAD-4539-84C5-BB3AA717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C3D"/>
                </a:solidFill>
              </a:defRPr>
            </a:defPPr>
            <a:lvl1pPr>
              <a:defRPr sz="3450" b="1">
                <a:solidFill>
                  <a:srgbClr val="102C3D"/>
                </a:solidFill>
              </a:defRPr>
            </a:lvl1pPr>
            <a:lvl2pPr>
              <a:defRPr sz="3450" b="1">
                <a:solidFill>
                  <a:srgbClr val="102C3D"/>
                </a:solidFill>
              </a:defRPr>
            </a:lvl2pPr>
            <a:lvl3pPr>
              <a:defRPr sz="3450" b="1">
                <a:solidFill>
                  <a:srgbClr val="102C3D"/>
                </a:solidFill>
              </a:defRPr>
            </a:lvl3pPr>
            <a:lvl4pPr>
              <a:defRPr sz="3450" b="1">
                <a:solidFill>
                  <a:srgbClr val="102C3D"/>
                </a:solidFill>
              </a:defRPr>
            </a:lvl4pPr>
            <a:lvl5pPr>
              <a:defRPr sz="3450" b="1">
                <a:solidFill>
                  <a:srgbClr val="102C3D"/>
                </a:solidFill>
              </a:defRPr>
            </a:lvl5pPr>
            <a:lvl6pPr>
              <a:defRPr sz="3450" b="1">
                <a:solidFill>
                  <a:srgbClr val="102C3D"/>
                </a:solidFill>
              </a:defRPr>
            </a:lvl6pPr>
            <a:lvl7pPr>
              <a:defRPr sz="3450" b="1">
                <a:solidFill>
                  <a:srgbClr val="102C3D"/>
                </a:solidFill>
              </a:defRPr>
            </a:lvl7pPr>
            <a:lvl8pPr>
              <a:defRPr sz="3450" b="1">
                <a:solidFill>
                  <a:srgbClr val="102C3D"/>
                </a:solidFill>
              </a:defRPr>
            </a:lvl8pPr>
            <a:lvl9pPr>
              <a:defRPr sz="3450" b="1">
                <a:solidFill>
                  <a:srgbClr val="102C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C3D"/>
                </a:solidFill>
              </a:defRPr>
            </a:pPr>
            <a:r>
              <a:rPr sz="3450" b="1">
                <a:solidFill>
                  <a:srgbClr val="102C3D"/>
                </a:solidFill>
              </a:rPr>
              <a:t>Акторы и сценарии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D13E7-3CA2-4DE5-B352-16F1B377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7D75"/>
                </a:solidFill>
              </a:defRPr>
            </a:defPPr>
            <a:lvl1pPr>
              <a:defRPr sz="2175" b="1">
                <a:solidFill>
                  <a:srgbClr val="287D75"/>
                </a:solidFill>
              </a:defRPr>
            </a:lvl1pPr>
            <a:lvl2pPr>
              <a:defRPr sz="2175" b="1">
                <a:solidFill>
                  <a:srgbClr val="287D75"/>
                </a:solidFill>
              </a:defRPr>
            </a:lvl2pPr>
            <a:lvl3pPr>
              <a:defRPr sz="2175" b="1">
                <a:solidFill>
                  <a:srgbClr val="287D75"/>
                </a:solidFill>
              </a:defRPr>
            </a:lvl3pPr>
            <a:lvl4pPr>
              <a:defRPr sz="2175" b="1">
                <a:solidFill>
                  <a:srgbClr val="287D75"/>
                </a:solidFill>
              </a:defRPr>
            </a:lvl4pPr>
            <a:lvl5pPr>
              <a:defRPr sz="2175" b="1">
                <a:solidFill>
                  <a:srgbClr val="287D75"/>
                </a:solidFill>
              </a:defRPr>
            </a:lvl5pPr>
            <a:lvl6pPr>
              <a:defRPr sz="2175" b="1">
                <a:solidFill>
                  <a:srgbClr val="287D75"/>
                </a:solidFill>
              </a:defRPr>
            </a:lvl6pPr>
            <a:lvl7pPr>
              <a:defRPr sz="2175" b="1">
                <a:solidFill>
                  <a:srgbClr val="287D75"/>
                </a:solidFill>
              </a:defRPr>
            </a:lvl7pPr>
            <a:lvl8pPr>
              <a:defRPr sz="2175" b="1">
                <a:solidFill>
                  <a:srgbClr val="287D75"/>
                </a:solidFill>
              </a:defRPr>
            </a:lvl8pPr>
            <a:lvl9pPr>
              <a:defRPr sz="2175" b="1">
                <a:solidFill>
                  <a:srgbClr val="287D7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7D75"/>
                </a:solidFill>
              </a:defRPr>
            </a:pPr>
            <a:r>
              <a:rPr sz="2175" b="1">
                <a:solidFill>
                  <a:srgbClr val="287D75"/>
                </a:solidFill>
              </a:rPr>
              <a:t>Четыре роли с разными правами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C2764-EF48-4088-85A0-1DC15D7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746"/>
                </a:solidFill>
              </a:defRPr>
            </a:defPPr>
            <a:lvl1pPr>
              <a:defRPr sz="2175" b="0">
                <a:solidFill>
                  <a:srgbClr val="203746"/>
                </a:solidFill>
              </a:defRPr>
            </a:lvl1pPr>
            <a:lvl2pPr>
              <a:defRPr sz="2175" b="0">
                <a:solidFill>
                  <a:srgbClr val="203746"/>
                </a:solidFill>
              </a:defRPr>
            </a:lvl2pPr>
            <a:lvl3pPr>
              <a:defRPr sz="2175" b="0">
                <a:solidFill>
                  <a:srgbClr val="203746"/>
                </a:solidFill>
              </a:defRPr>
            </a:lvl3pPr>
            <a:lvl4pPr>
              <a:defRPr sz="2175" b="0">
                <a:solidFill>
                  <a:srgbClr val="203746"/>
                </a:solidFill>
              </a:defRPr>
            </a:lvl4pPr>
            <a:lvl5pPr>
              <a:defRPr sz="2175" b="0">
                <a:solidFill>
                  <a:srgbClr val="203746"/>
                </a:solidFill>
              </a:defRPr>
            </a:lvl5pPr>
            <a:lvl6pPr>
              <a:defRPr sz="2175" b="0">
                <a:solidFill>
                  <a:srgbClr val="203746"/>
                </a:solidFill>
              </a:defRPr>
            </a:lvl6pPr>
            <a:lvl7pPr>
              <a:defRPr sz="2175" b="0">
                <a:solidFill>
                  <a:srgbClr val="203746"/>
                </a:solidFill>
              </a:defRPr>
            </a:lvl7pPr>
            <a:lvl8pPr>
              <a:defRPr sz="2175" b="0">
                <a:solidFill>
                  <a:srgbClr val="203746"/>
                </a:solidFill>
              </a:defRPr>
            </a:lvl8pPr>
            <a:lvl9pPr>
              <a:defRPr sz="2175" b="0">
                <a:solidFill>
                  <a:srgbClr val="20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Директор — KPI, отчёты, сравнение и уведомления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Менеджер — KPI и отчёты своего отдела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Аналитик — импорт CSV, KPI и отчёты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Администратор — пользователи и цели KPI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Подробные сценарии: импорт CSV и формирование отчёта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B3553-E75F-4598-85BA-2C07ADB4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87D75"/>
                </a:solidFill>
              </a:defRPr>
            </a:defPPr>
            <a:lvl1pPr>
              <a:defRPr sz="1350" b="0">
                <a:solidFill>
                  <a:srgbClr val="287D75"/>
                </a:solidFill>
              </a:defRPr>
            </a:lvl1pPr>
            <a:lvl2pPr>
              <a:defRPr sz="1350" b="0">
                <a:solidFill>
                  <a:srgbClr val="287D75"/>
                </a:solidFill>
              </a:defRPr>
            </a:lvl2pPr>
            <a:lvl3pPr>
              <a:defRPr sz="1350" b="0">
                <a:solidFill>
                  <a:srgbClr val="287D75"/>
                </a:solidFill>
              </a:defRPr>
            </a:lvl3pPr>
            <a:lvl4pPr>
              <a:defRPr sz="1350" b="0">
                <a:solidFill>
                  <a:srgbClr val="287D75"/>
                </a:solidFill>
              </a:defRPr>
            </a:lvl4pPr>
            <a:lvl5pPr>
              <a:defRPr sz="1350" b="0">
                <a:solidFill>
                  <a:srgbClr val="287D75"/>
                </a:solidFill>
              </a:defRPr>
            </a:lvl5pPr>
            <a:lvl6pPr>
              <a:defRPr sz="1350" b="0">
                <a:solidFill>
                  <a:srgbClr val="287D75"/>
                </a:solidFill>
              </a:defRPr>
            </a:lvl6pPr>
            <a:lvl7pPr>
              <a:defRPr sz="1350" b="0">
                <a:solidFill>
                  <a:srgbClr val="287D75"/>
                </a:solidFill>
              </a:defRPr>
            </a:lvl7pPr>
            <a:lvl8pPr>
              <a:defRPr sz="1350" b="0">
                <a:solidFill>
                  <a:srgbClr val="287D75"/>
                </a:solidFill>
              </a:defRPr>
            </a:lvl8pPr>
            <a:lvl9pPr>
              <a:defRPr sz="1350" b="0">
                <a:solidFill>
                  <a:srgbClr val="287D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87D75"/>
                </a:solidFill>
              </a:defRPr>
            </a:pPr>
            <a:r>
              <a:rPr sz="1350" b="0">
                <a:solidFill>
                  <a:srgbClr val="287D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3517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5A078-B09C-4745-9A6E-B198F60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2C3D"/>
                </a:solidFill>
              </a:defRPr>
            </a:defPPr>
            <a:lvl1pPr>
              <a:defRPr sz="3450" b="1">
                <a:solidFill>
                  <a:srgbClr val="102C3D"/>
                </a:solidFill>
              </a:defRPr>
            </a:lvl1pPr>
            <a:lvl2pPr>
              <a:defRPr sz="3450" b="1">
                <a:solidFill>
                  <a:srgbClr val="102C3D"/>
                </a:solidFill>
              </a:defRPr>
            </a:lvl2pPr>
            <a:lvl3pPr>
              <a:defRPr sz="3450" b="1">
                <a:solidFill>
                  <a:srgbClr val="102C3D"/>
                </a:solidFill>
              </a:defRPr>
            </a:lvl3pPr>
            <a:lvl4pPr>
              <a:defRPr sz="3450" b="1">
                <a:solidFill>
                  <a:srgbClr val="102C3D"/>
                </a:solidFill>
              </a:defRPr>
            </a:lvl4pPr>
            <a:lvl5pPr>
              <a:defRPr sz="3450" b="1">
                <a:solidFill>
                  <a:srgbClr val="102C3D"/>
                </a:solidFill>
              </a:defRPr>
            </a:lvl5pPr>
            <a:lvl6pPr>
              <a:defRPr sz="3450" b="1">
                <a:solidFill>
                  <a:srgbClr val="102C3D"/>
                </a:solidFill>
              </a:defRPr>
            </a:lvl6pPr>
            <a:lvl7pPr>
              <a:defRPr sz="3450" b="1">
                <a:solidFill>
                  <a:srgbClr val="102C3D"/>
                </a:solidFill>
              </a:defRPr>
            </a:lvl7pPr>
            <a:lvl8pPr>
              <a:defRPr sz="3450" b="1">
                <a:solidFill>
                  <a:srgbClr val="102C3D"/>
                </a:solidFill>
              </a:defRPr>
            </a:lvl8pPr>
            <a:lvl9pPr>
              <a:defRPr sz="3450" b="1">
                <a:solidFill>
                  <a:srgbClr val="102C3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2C3D"/>
                </a:solidFill>
              </a:defRPr>
            </a:pPr>
            <a:r>
              <a:rPr sz="3450" b="1">
                <a:solidFill>
                  <a:srgbClr val="102C3D"/>
                </a:solidFill>
              </a:rPr>
              <a:t>Backlog и план 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8A27E-9FC4-42A1-BE2C-512A6AF2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87D75"/>
                </a:solidFill>
              </a:defRPr>
            </a:defPPr>
            <a:lvl1pPr>
              <a:defRPr sz="2175" b="1">
                <a:solidFill>
                  <a:srgbClr val="287D75"/>
                </a:solidFill>
              </a:defRPr>
            </a:lvl1pPr>
            <a:lvl2pPr>
              <a:defRPr sz="2175" b="1">
                <a:solidFill>
                  <a:srgbClr val="287D75"/>
                </a:solidFill>
              </a:defRPr>
            </a:lvl2pPr>
            <a:lvl3pPr>
              <a:defRPr sz="2175" b="1">
                <a:solidFill>
                  <a:srgbClr val="287D75"/>
                </a:solidFill>
              </a:defRPr>
            </a:lvl3pPr>
            <a:lvl4pPr>
              <a:defRPr sz="2175" b="1">
                <a:solidFill>
                  <a:srgbClr val="287D75"/>
                </a:solidFill>
              </a:defRPr>
            </a:lvl4pPr>
            <a:lvl5pPr>
              <a:defRPr sz="2175" b="1">
                <a:solidFill>
                  <a:srgbClr val="287D75"/>
                </a:solidFill>
              </a:defRPr>
            </a:lvl5pPr>
            <a:lvl6pPr>
              <a:defRPr sz="2175" b="1">
                <a:solidFill>
                  <a:srgbClr val="287D75"/>
                </a:solidFill>
              </a:defRPr>
            </a:lvl6pPr>
            <a:lvl7pPr>
              <a:defRPr sz="2175" b="1">
                <a:solidFill>
                  <a:srgbClr val="287D75"/>
                </a:solidFill>
              </a:defRPr>
            </a:lvl7pPr>
            <a:lvl8pPr>
              <a:defRPr sz="2175" b="1">
                <a:solidFill>
                  <a:srgbClr val="287D75"/>
                </a:solidFill>
              </a:defRPr>
            </a:lvl8pPr>
            <a:lvl9pPr>
              <a:defRPr sz="2175" b="1">
                <a:solidFill>
                  <a:srgbClr val="287D7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87D75"/>
                </a:solidFill>
              </a:defRPr>
            </a:pPr>
            <a:r>
              <a:rPr sz="2175" b="1">
                <a:solidFill>
                  <a:srgbClr val="287D75"/>
                </a:solidFill>
              </a:rPr>
              <a:t>Три спринта по две недели, 31 SP в релизе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317B7-5442-4BBA-8773-EB6CEF53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746"/>
                </a:solidFill>
              </a:defRPr>
            </a:defPPr>
            <a:lvl1pPr>
              <a:defRPr sz="2175" b="0">
                <a:solidFill>
                  <a:srgbClr val="203746"/>
                </a:solidFill>
              </a:defRPr>
            </a:lvl1pPr>
            <a:lvl2pPr>
              <a:defRPr sz="2175" b="0">
                <a:solidFill>
                  <a:srgbClr val="203746"/>
                </a:solidFill>
              </a:defRPr>
            </a:lvl2pPr>
            <a:lvl3pPr>
              <a:defRPr sz="2175" b="0">
                <a:solidFill>
                  <a:srgbClr val="203746"/>
                </a:solidFill>
              </a:defRPr>
            </a:lvl3pPr>
            <a:lvl4pPr>
              <a:defRPr sz="2175" b="0">
                <a:solidFill>
                  <a:srgbClr val="203746"/>
                </a:solidFill>
              </a:defRPr>
            </a:lvl4pPr>
            <a:lvl5pPr>
              <a:defRPr sz="2175" b="0">
                <a:solidFill>
                  <a:srgbClr val="203746"/>
                </a:solidFill>
              </a:defRPr>
            </a:lvl5pPr>
            <a:lvl6pPr>
              <a:defRPr sz="2175" b="0">
                <a:solidFill>
                  <a:srgbClr val="203746"/>
                </a:solidFill>
              </a:defRPr>
            </a:lvl6pPr>
            <a:lvl7pPr>
              <a:defRPr sz="2175" b="0">
                <a:solidFill>
                  <a:srgbClr val="203746"/>
                </a:solidFill>
              </a:defRPr>
            </a:lvl7pPr>
            <a:lvl8pPr>
              <a:defRPr sz="2175" b="0">
                <a:solidFill>
                  <a:srgbClr val="203746"/>
                </a:solidFill>
              </a:defRPr>
            </a:lvl8pPr>
            <a:lvl9pPr>
              <a:defRPr sz="2175" b="0">
                <a:solidFill>
                  <a:srgbClr val="20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Спринт 1 — Must have, 13 SP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Вход и права, импорт CSV, дашборд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Спринт 2 — Should have, 9 SP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Отчёты, XLSX, управление пользователями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Спринт 3 — Could have, 9 SP</a:t>
            </a:r>
          </a:p>
          <a:p xmlns:a="http://schemas.openxmlformats.org/drawingml/2006/main">
            <a:pPr>
              <a:defRPr sz="2175" b="0">
                <a:solidFill>
                  <a:srgbClr val="203746"/>
                </a:solidFill>
              </a:defRPr>
            </a:pPr>
            <a:r>
              <a:rPr sz="2175" b="0">
                <a:solidFill>
                  <a:srgbClr val="203746"/>
                </a:solidFill>
              </a:rPr>
              <a:t>Цели, уведомления, сравнение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844E0-9749-415D-A90E-0EAA7369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87D75"/>
                </a:solidFill>
              </a:defRPr>
            </a:defPPr>
            <a:lvl1pPr>
              <a:defRPr sz="1350" b="0">
                <a:solidFill>
                  <a:srgbClr val="287D75"/>
                </a:solidFill>
              </a:defRPr>
            </a:lvl1pPr>
            <a:lvl2pPr>
              <a:defRPr sz="1350" b="0">
                <a:solidFill>
                  <a:srgbClr val="287D75"/>
                </a:solidFill>
              </a:defRPr>
            </a:lvl2pPr>
            <a:lvl3pPr>
              <a:defRPr sz="1350" b="0">
                <a:solidFill>
                  <a:srgbClr val="287D75"/>
                </a:solidFill>
              </a:defRPr>
            </a:lvl3pPr>
            <a:lvl4pPr>
              <a:defRPr sz="1350" b="0">
                <a:solidFill>
                  <a:srgbClr val="287D75"/>
                </a:solidFill>
              </a:defRPr>
            </a:lvl4pPr>
            <a:lvl5pPr>
              <a:defRPr sz="1350" b="0">
                <a:solidFill>
                  <a:srgbClr val="287D75"/>
                </a:solidFill>
              </a:defRPr>
            </a:lvl5pPr>
            <a:lvl6pPr>
              <a:defRPr sz="1350" b="0">
                <a:solidFill>
                  <a:srgbClr val="287D75"/>
                </a:solidFill>
              </a:defRPr>
            </a:lvl6pPr>
            <a:lvl7pPr>
              <a:defRPr sz="1350" b="0">
                <a:solidFill>
                  <a:srgbClr val="287D75"/>
                </a:solidFill>
              </a:defRPr>
            </a:lvl7pPr>
            <a:lvl8pPr>
              <a:defRPr sz="1350" b="0">
                <a:solidFill>
                  <a:srgbClr val="287D75"/>
                </a:solidFill>
              </a:defRPr>
            </a:lvl8pPr>
            <a:lvl9pPr>
              <a:defRPr sz="1350" b="0">
                <a:solidFill>
                  <a:srgbClr val="287D75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87D75"/>
                </a:solidFill>
              </a:defRPr>
            </a:pPr>
            <a:r>
              <a:rPr sz="1350" b="0">
                <a:solidFill>
                  <a:srgbClr val="287D7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4916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2026-10-21T05:31:44.5470000Z</dcterms:created>
  <dcterms:modified xsi:type="dcterms:W3CDTF">2026-10-21T05:31:44.5470000Z</dcterms:modified>
</coreProperties>
</file>